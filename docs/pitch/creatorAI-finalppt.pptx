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77551" autoAdjust="0"/>
  </p:normalViewPr>
  <p:slideViewPr>
    <p:cSldViewPr snapToGrid="0" snapToObjects="1">
      <p:cViewPr>
        <p:scale>
          <a:sx n="69" d="100"/>
          <a:sy n="69" d="100"/>
        </p:scale>
        <p:origin x="54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DF010-9CF3-4FBE-AA9B-E0892BC9D44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09FF3D-629A-4E06-87B4-53C7B93A5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554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09FF3D-629A-4E06-87B4-53C7B93A58A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93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67275" y="727054"/>
            <a:ext cx="1457450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 dirty="0">
                <a:solidFill>
                  <a:srgbClr val="5B6736"/>
                </a:solidFill>
                <a:latin typeface="Aptos"/>
              </a:rPr>
              <a:t>NEXBYTE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37560" y="1097280"/>
            <a:ext cx="5486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500" b="1">
                <a:solidFill>
                  <a:srgbClr val="373C26"/>
                </a:solidFill>
                <a:latin typeface="Georgia"/>
              </a:rPr>
              <a:t>CreatorAI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74519"/>
            <a:ext cx="795527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 dirty="0">
                <a:solidFill>
                  <a:srgbClr val="5B6736"/>
                </a:solidFill>
                <a:latin typeface="Georgia"/>
              </a:rPr>
              <a:t>Create once. Shape it everywhere.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959" y="2764274"/>
            <a:ext cx="1063560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0" dirty="0">
                <a:solidFill>
                  <a:srgbClr val="707150"/>
                </a:solidFill>
                <a:latin typeface="Aptos"/>
              </a:rPr>
              <a:t>AI-assisted creator workspace for turning raw recordings into editable, platform-ready short-form content.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63320" y="3664958"/>
            <a:ext cx="6665360" cy="899681"/>
          </a:xfrm>
          <a:prstGeom prst="roundRect">
            <a:avLst/>
          </a:prstGeom>
          <a:solidFill>
            <a:srgbClr val="9CA764"/>
          </a:solidFill>
          <a:ln w="8890">
            <a:solidFill>
              <a:srgbClr val="9CA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1128" y="3945524"/>
            <a:ext cx="580498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dirty="0">
                <a:solidFill>
                  <a:srgbClr val="FFFCEF"/>
                </a:solidFill>
                <a:latin typeface="Aptos"/>
              </a:rPr>
              <a:t>CONTENT INTELLIGENCE  •  EDITING  •  FFMPEG RENDERING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5806440"/>
            <a:ext cx="4434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5B6736"/>
                </a:solidFill>
                <a:latin typeface="Aptos"/>
              </a:rPr>
              <a:t>Team NexByte  · 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51932"/>
            <a:ext cx="1405834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5B6736"/>
                </a:solidFill>
                <a:latin typeface="Aptos"/>
              </a:rPr>
              <a:t>01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373C26"/>
                </a:solidFill>
                <a:latin typeface="Georgia"/>
              </a:rPr>
              <a:t>Creators spend too much time after they hit record.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09151"/>
            <a:ext cx="655006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 err="1">
                <a:solidFill>
                  <a:srgbClr val="707150"/>
                </a:solidFill>
                <a:latin typeface="Aptos"/>
              </a:rPr>
              <a:t>CreatorAI</a:t>
            </a:r>
            <a:r>
              <a:rPr sz="1400" b="0" dirty="0">
                <a:solidFill>
                  <a:srgbClr val="707150"/>
                </a:solidFill>
                <a:latin typeface="Aptos"/>
              </a:rPr>
              <a:t> targets the repetitive production work between recording and publishing.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52760" cy="10972"/>
          </a:xfrm>
          <a:prstGeom prst="rect">
            <a:avLst/>
          </a:prstGeom>
          <a:solidFill>
            <a:srgbClr val="DED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4983480" cy="1051560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313432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5B673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2280863"/>
            <a:ext cx="3840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373C26"/>
                </a:solidFill>
                <a:latin typeface="Aptos"/>
              </a:rPr>
              <a:t>Finding moments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2587752"/>
            <a:ext cx="37947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707150"/>
                </a:solidFill>
                <a:latin typeface="Aptos"/>
              </a:rPr>
              <a:t>Creators rewatch recordings to locate strong hooks and usable clips.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48840"/>
            <a:ext cx="4983480" cy="1051560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2313432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5B6736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2288917"/>
            <a:ext cx="3840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373C26"/>
                </a:solidFill>
                <a:latin typeface="Aptos"/>
              </a:rPr>
              <a:t>Manual editing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0588" y="2596896"/>
            <a:ext cx="37947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707150"/>
                </a:solidFill>
                <a:latin typeface="Aptos"/>
              </a:rPr>
              <a:t>Trimming, captions, audio and framing are repeated for every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02152"/>
            <a:ext cx="4983480" cy="1051560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666744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5B6736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4460" y="3621332"/>
            <a:ext cx="3840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373C26"/>
                </a:solidFill>
                <a:latin typeface="Aptos"/>
              </a:rPr>
              <a:t>Platform formatting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4460" y="3921338"/>
            <a:ext cx="37947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707150"/>
                </a:solidFill>
                <a:latin typeface="Aptos"/>
              </a:rPr>
              <a:t>The same content must be adapted to vertical, landscape and square formats.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502152"/>
            <a:ext cx="4983480" cy="1051560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6248" y="3666744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5B6736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611880"/>
            <a:ext cx="3840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373C26"/>
                </a:solidFill>
                <a:latin typeface="Aptos"/>
              </a:rPr>
              <a:t>Lost production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3937057"/>
            <a:ext cx="37947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707150"/>
                </a:solidFill>
                <a:latin typeface="Aptos"/>
              </a:rPr>
              <a:t>Creative time is replaced by repetitive post-production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5166360"/>
            <a:ext cx="7818120" cy="658368"/>
          </a:xfrm>
          <a:prstGeom prst="roundRect">
            <a:avLst/>
          </a:prstGeom>
          <a:solidFill>
            <a:srgbClr val="F1E8C7"/>
          </a:solidFill>
          <a:ln w="8890">
            <a:solidFill>
              <a:srgbClr val="F1E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23160" y="5166360"/>
            <a:ext cx="73609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5B6736"/>
                </a:solidFill>
                <a:latin typeface="Georgia"/>
              </a:rPr>
              <a:t>Goal: reduce repetitive production without removing creator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51931"/>
            <a:ext cx="146924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5B6736"/>
                </a:solidFill>
                <a:latin typeface="Aptos"/>
              </a:rPr>
              <a:t>02 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373C26"/>
                </a:solidFill>
                <a:latin typeface="Georgia"/>
              </a:rPr>
              <a:t>One guided workflow from idea to publish.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09151"/>
            <a:ext cx="7398436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707150"/>
                </a:solidFill>
                <a:latin typeface="Aptos"/>
              </a:rPr>
              <a:t>The product connects AI analysis, human editing decisions and deterministic video rendering.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52760" cy="10972"/>
          </a:xfrm>
          <a:prstGeom prst="rect">
            <a:avLst/>
          </a:prstGeom>
          <a:solidFill>
            <a:srgbClr val="DED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52728" y="2331720"/>
            <a:ext cx="548640" cy="548640"/>
          </a:xfrm>
          <a:prstGeom prst="ellipse">
            <a:avLst/>
          </a:prstGeom>
          <a:solidFill>
            <a:srgbClr val="9CA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1380213" y="2436763"/>
            <a:ext cx="2936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CE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0332" y="3012835"/>
            <a:ext cx="59343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dirty="0">
                <a:solidFill>
                  <a:srgbClr val="373C26"/>
                </a:solidFill>
                <a:latin typeface="Aptos"/>
              </a:rPr>
              <a:t>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97" y="3291727"/>
            <a:ext cx="95090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 dirty="0">
                <a:solidFill>
                  <a:srgbClr val="707150"/>
                </a:solidFill>
                <a:latin typeface="Aptos"/>
              </a:rPr>
              <a:t>Concept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9978" y="2596896"/>
            <a:ext cx="1325880" cy="10972"/>
          </a:xfrm>
          <a:prstGeom prst="rect">
            <a:avLst/>
          </a:prstGeom>
          <a:solidFill>
            <a:srgbClr val="9CA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Oval 10"/>
          <p:cNvSpPr/>
          <p:nvPr/>
        </p:nvSpPr>
        <p:spPr>
          <a:xfrm>
            <a:off x="3108959" y="2331720"/>
            <a:ext cx="548640" cy="548640"/>
          </a:xfrm>
          <a:prstGeom prst="ellipse">
            <a:avLst/>
          </a:prstGeom>
          <a:solidFill>
            <a:srgbClr val="9CA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3236444" y="2436763"/>
            <a:ext cx="2936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CE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1222" y="3012835"/>
            <a:ext cx="74411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73C26"/>
                </a:solidFill>
                <a:latin typeface="Aptos"/>
              </a:rPr>
              <a:t>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9981" y="3291727"/>
            <a:ext cx="90659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707150"/>
                </a:solidFill>
                <a:latin typeface="Aptos"/>
              </a:rPr>
              <a:t>Content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75357" y="2596896"/>
            <a:ext cx="1325880" cy="10972"/>
          </a:xfrm>
          <a:prstGeom prst="rect">
            <a:avLst/>
          </a:prstGeom>
          <a:solidFill>
            <a:srgbClr val="9CA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Oval 15"/>
          <p:cNvSpPr/>
          <p:nvPr/>
        </p:nvSpPr>
        <p:spPr>
          <a:xfrm>
            <a:off x="4965192" y="2331720"/>
            <a:ext cx="548640" cy="548640"/>
          </a:xfrm>
          <a:prstGeom prst="ellipse">
            <a:avLst/>
          </a:prstGeom>
          <a:solidFill>
            <a:srgbClr val="9CA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5092677" y="2436763"/>
            <a:ext cx="2936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CE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7087" y="3012835"/>
            <a:ext cx="108484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73C26"/>
                </a:solidFill>
                <a:latin typeface="Aptos"/>
              </a:rPr>
              <a:t>Recorded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3913" y="3291727"/>
            <a:ext cx="133119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707150"/>
                </a:solidFill>
                <a:latin typeface="Aptos"/>
              </a:rPr>
              <a:t>Source video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2442" y="2585924"/>
            <a:ext cx="1325880" cy="10972"/>
          </a:xfrm>
          <a:prstGeom prst="rect">
            <a:avLst/>
          </a:prstGeom>
          <a:solidFill>
            <a:srgbClr val="9CA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Oval 20"/>
          <p:cNvSpPr/>
          <p:nvPr/>
        </p:nvSpPr>
        <p:spPr>
          <a:xfrm>
            <a:off x="6821424" y="2331720"/>
            <a:ext cx="548640" cy="548640"/>
          </a:xfrm>
          <a:prstGeom prst="ellipse">
            <a:avLst/>
          </a:prstGeom>
          <a:solidFill>
            <a:srgbClr val="9CA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6948909" y="2436763"/>
            <a:ext cx="2936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CE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6124" y="3012835"/>
            <a:ext cx="119923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73C26"/>
                </a:solidFill>
                <a:latin typeface="Aptos"/>
              </a:rPr>
              <a:t>AI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0107" y="3291727"/>
            <a:ext cx="137127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707150"/>
                </a:solidFill>
                <a:latin typeface="Aptos"/>
              </a:rPr>
              <a:t>Hooks + clips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3780" y="2596896"/>
            <a:ext cx="1325880" cy="10972"/>
          </a:xfrm>
          <a:prstGeom prst="rect">
            <a:avLst/>
          </a:prstGeom>
          <a:solidFill>
            <a:srgbClr val="9CA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Oval 25"/>
          <p:cNvSpPr/>
          <p:nvPr/>
        </p:nvSpPr>
        <p:spPr>
          <a:xfrm>
            <a:off x="8677656" y="2331720"/>
            <a:ext cx="548640" cy="548640"/>
          </a:xfrm>
          <a:prstGeom prst="ellipse">
            <a:avLst/>
          </a:prstGeom>
          <a:solidFill>
            <a:srgbClr val="9CA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8805141" y="2436763"/>
            <a:ext cx="2936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CE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0394" y="3012835"/>
            <a:ext cx="78316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73C26"/>
                </a:solidFill>
                <a:latin typeface="Aptos"/>
              </a:rPr>
              <a:t>Edited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6606" y="3291727"/>
            <a:ext cx="153073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707150"/>
                </a:solidFill>
                <a:latin typeface="Aptos"/>
              </a:rPr>
              <a:t>Creator control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17152" y="2596896"/>
            <a:ext cx="1325880" cy="10972"/>
          </a:xfrm>
          <a:prstGeom prst="rect">
            <a:avLst/>
          </a:prstGeom>
          <a:solidFill>
            <a:srgbClr val="9CA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Oval 30"/>
          <p:cNvSpPr/>
          <p:nvPr/>
        </p:nvSpPr>
        <p:spPr>
          <a:xfrm>
            <a:off x="10533888" y="2331720"/>
            <a:ext cx="548640" cy="548640"/>
          </a:xfrm>
          <a:prstGeom prst="ellipse">
            <a:avLst/>
          </a:prstGeom>
          <a:solidFill>
            <a:srgbClr val="9CA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2" name="TextBox 31"/>
          <p:cNvSpPr txBox="1"/>
          <p:nvPr/>
        </p:nvSpPr>
        <p:spPr>
          <a:xfrm>
            <a:off x="10661373" y="2436763"/>
            <a:ext cx="2936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CE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6131" y="3012835"/>
            <a:ext cx="88415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73C26"/>
                </a:solidFill>
                <a:latin typeface="Aptos"/>
              </a:rPr>
              <a:t>Publish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5403" y="3291727"/>
            <a:ext cx="104560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707150"/>
                </a:solidFill>
                <a:latin typeface="Aptos"/>
              </a:rPr>
              <a:t>Final MP4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4251960"/>
            <a:ext cx="9921240" cy="1024128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17320" y="4462272"/>
            <a:ext cx="388620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5B6736"/>
                </a:solidFill>
                <a:latin typeface="Georgia"/>
              </a:rPr>
              <a:t>CreatorAI does not blindly auto-edit.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4689044"/>
            <a:ext cx="56692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 dirty="0">
                <a:solidFill>
                  <a:srgbClr val="373C26"/>
                </a:solidFill>
                <a:latin typeface="Aptos"/>
              </a:rPr>
              <a:t>AI proposes hooks, clips and edit decisions; the creator can review, apply, ignore or modify them before rendering.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5715000"/>
            <a:ext cx="7909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707150"/>
                </a:solidFill>
                <a:latin typeface="Aptos"/>
              </a:rPr>
              <a:t>Result: faster production with an editable AI production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51931"/>
            <a:ext cx="279416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5B6736"/>
                </a:solidFill>
                <a:latin typeface="Aptos"/>
              </a:rPr>
              <a:t>03  CREATOR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 dirty="0">
                <a:solidFill>
                  <a:srgbClr val="373C26"/>
                </a:solidFill>
                <a:latin typeface="Georgia"/>
              </a:rPr>
              <a:t>Analysis that becomes useful product insight.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09151"/>
            <a:ext cx="648869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707150"/>
                </a:solidFill>
                <a:latin typeface="Aptos"/>
              </a:rPr>
              <a:t>Metrics shown in the prototype summarize AI analysis and workflow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52760" cy="10972"/>
          </a:xfrm>
          <a:prstGeom prst="rect">
            <a:avLst/>
          </a:prstGeom>
          <a:solidFill>
            <a:srgbClr val="DED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23160" cy="1627632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1836" y="2325810"/>
            <a:ext cx="93455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dirty="0">
                <a:solidFill>
                  <a:srgbClr val="5B6736"/>
                </a:solidFill>
                <a:latin typeface="Aptos"/>
              </a:rPr>
              <a:t>TOP HOOK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88336"/>
            <a:ext cx="2103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373C26"/>
                </a:solidFill>
                <a:latin typeface="Georgia"/>
              </a:rPr>
              <a:t>92%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922" y="3281357"/>
            <a:ext cx="237238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 dirty="0">
                <a:solidFill>
                  <a:srgbClr val="707150"/>
                </a:solidFill>
                <a:latin typeface="Aptos"/>
              </a:rPr>
              <a:t>Example predicted hook strength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79" y="2148840"/>
            <a:ext cx="2423160" cy="1627632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1917" y="2325810"/>
            <a:ext cx="89223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dirty="0">
                <a:solidFill>
                  <a:srgbClr val="5B6736"/>
                </a:solidFill>
                <a:latin typeface="Aptos"/>
              </a:rPr>
              <a:t>BEST CLIP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2688336"/>
            <a:ext cx="2103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373C26"/>
                </a:solidFill>
                <a:latin typeface="Georgia"/>
              </a:rPr>
              <a:t>94/100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657" y="3281357"/>
            <a:ext cx="217675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 dirty="0">
                <a:solidFill>
                  <a:srgbClr val="707150"/>
                </a:solidFill>
                <a:latin typeface="Aptos"/>
              </a:rPr>
              <a:t>Highest-ranked candidate clip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48840"/>
            <a:ext cx="2423160" cy="1627632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97332" y="2325810"/>
            <a:ext cx="143924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 dirty="0">
                <a:solidFill>
                  <a:srgbClr val="5B6736"/>
                </a:solidFill>
                <a:latin typeface="Aptos"/>
              </a:rPr>
              <a:t>AVG. </a:t>
            </a:r>
            <a:r>
              <a:rPr sz="1200" b="1" dirty="0">
                <a:solidFill>
                  <a:srgbClr val="5B6736"/>
                </a:solidFill>
                <a:latin typeface="Aptos"/>
              </a:rPr>
              <a:t>ENGAGEMENT</a:t>
            </a:r>
            <a:endParaRPr sz="800" b="1" dirty="0">
              <a:solidFill>
                <a:srgbClr val="5B6736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65392" y="2688336"/>
            <a:ext cx="2103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373C26"/>
                </a:solidFill>
                <a:latin typeface="Georgia"/>
              </a:rPr>
              <a:t>84%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5867" y="3281357"/>
            <a:ext cx="230216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 dirty="0">
                <a:solidFill>
                  <a:srgbClr val="707150"/>
                </a:solidFill>
                <a:latin typeface="Aptos"/>
              </a:rPr>
              <a:t>Prototype engagement estimate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19" y="2148840"/>
            <a:ext cx="2423160" cy="1627632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92237" y="2325810"/>
            <a:ext cx="102726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dirty="0">
                <a:solidFill>
                  <a:srgbClr val="5B6736"/>
                </a:solidFill>
                <a:latin typeface="Aptos"/>
              </a:rPr>
              <a:t>TIME SAVED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1" y="2688336"/>
            <a:ext cx="2103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373C26"/>
                </a:solidFill>
                <a:latin typeface="Georgia"/>
              </a:rPr>
              <a:t>2h 34m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1221" y="3281357"/>
            <a:ext cx="212930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 dirty="0">
                <a:solidFill>
                  <a:srgbClr val="707150"/>
                </a:solidFill>
                <a:latin typeface="Aptos"/>
              </a:rPr>
              <a:t>Illustrative workflow estimate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0" y="4275153"/>
            <a:ext cx="8915400" cy="1051560"/>
          </a:xfrm>
          <a:prstGeom prst="roundRect">
            <a:avLst/>
          </a:prstGeom>
          <a:solidFill>
            <a:srgbClr val="F1E8C7"/>
          </a:solidFill>
          <a:ln w="8890">
            <a:solidFill>
              <a:srgbClr val="F1E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240" y="4616381"/>
            <a:ext cx="162429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5B6736"/>
                </a:solidFill>
                <a:latin typeface="Aptos"/>
              </a:rPr>
              <a:t>CONTENT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562855"/>
            <a:ext cx="66294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 dirty="0">
                <a:solidFill>
                  <a:srgbClr val="373C26"/>
                </a:solidFill>
                <a:latin typeface="Georgia"/>
              </a:rPr>
              <a:t>Hook type  •  Beat type  •  Clip score  •  Repeated content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0284" y="5763952"/>
            <a:ext cx="5767220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 dirty="0">
                <a:solidFill>
                  <a:srgbClr val="707150"/>
                </a:solidFill>
                <a:latin typeface="Aptos"/>
              </a:rPr>
              <a:t>Top hooks and best clips can be populated directly from the backend /analyze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51931"/>
            <a:ext cx="163269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5B6736"/>
                </a:solidFill>
                <a:latin typeface="Aptos"/>
              </a:rPr>
              <a:t>04  AI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 dirty="0">
                <a:solidFill>
                  <a:srgbClr val="373C26"/>
                </a:solidFill>
                <a:latin typeface="Georgia"/>
              </a:rPr>
              <a:t>What the intelligence layer produces.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09151"/>
            <a:ext cx="867654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707150"/>
                </a:solidFill>
                <a:latin typeface="Aptos"/>
              </a:rPr>
              <a:t>The frontend is designed to consume one analysis result and expose it across suggestions, clips and analytics.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52760" cy="10972"/>
          </a:xfrm>
          <a:prstGeom prst="rect">
            <a:avLst/>
          </a:prstGeom>
          <a:solidFill>
            <a:srgbClr val="DED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4937760" cy="1005840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23318" y="2489738"/>
            <a:ext cx="69692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5B6736"/>
                </a:solidFill>
                <a:latin typeface="Aptos"/>
              </a:rPr>
              <a:t>BEATS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0606" y="2489738"/>
            <a:ext cx="371909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373C26"/>
                </a:solidFill>
                <a:latin typeface="Aptos"/>
              </a:rPr>
              <a:t>Breaks the content into meaningful moments.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148840"/>
            <a:ext cx="4937760" cy="1005840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55487" y="2489738"/>
            <a:ext cx="799386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5B6736"/>
                </a:solidFill>
                <a:latin typeface="Aptos"/>
              </a:rPr>
              <a:t>HOOKS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4873" y="2369293"/>
            <a:ext cx="3436262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373C26"/>
                </a:solidFill>
                <a:latin typeface="Aptos"/>
              </a:rPr>
              <a:t>Surfaces opening lines and high-attention </a:t>
            </a:r>
            <a:endParaRPr lang="en-IN" sz="1400" b="0" dirty="0">
              <a:solidFill>
                <a:srgbClr val="373C26"/>
              </a:solidFill>
              <a:latin typeface="Aptos"/>
            </a:endParaRPr>
          </a:p>
          <a:p>
            <a:pPr algn="l"/>
            <a:r>
              <a:rPr sz="1400" b="0" dirty="0">
                <a:solidFill>
                  <a:srgbClr val="373C26"/>
                </a:solidFill>
                <a:latin typeface="Aptos"/>
              </a:rPr>
              <a:t>moments.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474720"/>
            <a:ext cx="4937760" cy="1005840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4878" y="3815618"/>
            <a:ext cx="137864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5B6736"/>
                </a:solidFill>
                <a:latin typeface="Aptos"/>
              </a:rPr>
              <a:t>CLIP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3525" y="3716030"/>
            <a:ext cx="2878160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373C26"/>
                </a:solidFill>
                <a:latin typeface="Aptos"/>
              </a:rPr>
              <a:t>Scores candidate clips so stronger </a:t>
            </a:r>
            <a:endParaRPr lang="en-IN" sz="1400" b="0" dirty="0">
              <a:solidFill>
                <a:srgbClr val="373C26"/>
              </a:solidFill>
              <a:latin typeface="Aptos"/>
            </a:endParaRPr>
          </a:p>
          <a:p>
            <a:pPr algn="l"/>
            <a:r>
              <a:rPr sz="1400" b="0" dirty="0">
                <a:solidFill>
                  <a:srgbClr val="373C26"/>
                </a:solidFill>
                <a:latin typeface="Aptos"/>
              </a:rPr>
              <a:t>moments appear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474720"/>
            <a:ext cx="4937760" cy="1005840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1278" y="3815618"/>
            <a:ext cx="114633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5B6736"/>
                </a:solidFill>
                <a:latin typeface="Aptos"/>
              </a:rPr>
              <a:t>EDIT PLANS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027" y="3707896"/>
            <a:ext cx="3057953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373C26"/>
                </a:solidFill>
                <a:latin typeface="Aptos"/>
              </a:rPr>
              <a:t>Produces editable recommendations</a:t>
            </a:r>
            <a:endParaRPr lang="en-IN" sz="1400" b="0" dirty="0">
              <a:solidFill>
                <a:srgbClr val="373C26"/>
              </a:solidFill>
              <a:latin typeface="Aptos"/>
            </a:endParaRPr>
          </a:p>
          <a:p>
            <a:pPr algn="l"/>
            <a:r>
              <a:rPr sz="1400" b="0" dirty="0">
                <a:solidFill>
                  <a:srgbClr val="373C26"/>
                </a:solidFill>
                <a:latin typeface="Aptos"/>
              </a:rPr>
              <a:t> instead of a locked final output.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5074920"/>
            <a:ext cx="7315200" cy="640080"/>
          </a:xfrm>
          <a:prstGeom prst="roundRect">
            <a:avLst/>
          </a:prstGeom>
          <a:solidFill>
            <a:srgbClr val="9CA764"/>
          </a:solidFill>
          <a:ln w="8890">
            <a:solidFill>
              <a:srgbClr val="9CA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9291" y="5241071"/>
            <a:ext cx="722293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dirty="0">
                <a:solidFill>
                  <a:srgbClr val="FFFCEF"/>
                </a:solidFill>
                <a:latin typeface="Aptos"/>
              </a:rPr>
              <a:t>Analyze once → reuse results across Suggestions, Clips, Editor and Creator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93192"/>
            <a:ext cx="45720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5B6736"/>
                </a:solidFill>
                <a:latin typeface="Aptos"/>
              </a:rPr>
              <a:t>05  VIDEO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 dirty="0" err="1">
                <a:solidFill>
                  <a:srgbClr val="373C26"/>
                </a:solidFill>
                <a:latin typeface="Georgia"/>
              </a:rPr>
              <a:t>FFmpeg</a:t>
            </a:r>
            <a:r>
              <a:rPr sz="2700" b="1" dirty="0">
                <a:solidFill>
                  <a:srgbClr val="373C26"/>
                </a:solidFill>
                <a:latin typeface="Georgia"/>
              </a:rPr>
              <a:t> turns the edit plan into the final MP4.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09151"/>
            <a:ext cx="6323911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707150"/>
                </a:solidFill>
                <a:latin typeface="Aptos"/>
              </a:rPr>
              <a:t>The rendering service is implemented as a </a:t>
            </a:r>
            <a:r>
              <a:rPr sz="1400" b="0" dirty="0" err="1">
                <a:solidFill>
                  <a:srgbClr val="707150"/>
                </a:solidFill>
                <a:latin typeface="Aptos"/>
              </a:rPr>
              <a:t>FastAPI</a:t>
            </a:r>
            <a:r>
              <a:rPr sz="1400" b="0" dirty="0">
                <a:solidFill>
                  <a:srgbClr val="707150"/>
                </a:solidFill>
                <a:latin typeface="Aptos"/>
              </a:rPr>
              <a:t> endpoint backed by </a:t>
            </a:r>
            <a:r>
              <a:rPr sz="1400" b="0" dirty="0" err="1">
                <a:solidFill>
                  <a:srgbClr val="707150"/>
                </a:solidFill>
                <a:latin typeface="Aptos"/>
              </a:rPr>
              <a:t>FFmpeg</a:t>
            </a:r>
            <a:r>
              <a:rPr sz="1400" b="0" dirty="0">
                <a:solidFill>
                  <a:srgbClr val="707150"/>
                </a:solidFill>
                <a:latin typeface="Aptos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52760" cy="10972"/>
          </a:xfrm>
          <a:prstGeom prst="rect">
            <a:avLst/>
          </a:prstGeom>
          <a:solidFill>
            <a:srgbClr val="DED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3429000" cy="1078992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09837"/>
            <a:ext cx="955711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5B6736"/>
                </a:solidFill>
                <a:latin typeface="Aptos"/>
              </a:rPr>
              <a:t>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1" y="2601243"/>
            <a:ext cx="30175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373C26"/>
                </a:solidFill>
                <a:latin typeface="Aptos"/>
              </a:rPr>
              <a:t>Single source or multiple clips can be trimmed and concatenated.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03120"/>
            <a:ext cx="3429000" cy="1078992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209837"/>
            <a:ext cx="97334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5B6736"/>
                </a:solidFill>
                <a:latin typeface="Aptos"/>
              </a:rPr>
              <a:t>FORMATS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16744"/>
            <a:ext cx="273164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373C26"/>
                </a:solidFill>
                <a:latin typeface="Aptos"/>
              </a:rPr>
              <a:t>9:16 · 16:9 · 1:1 output canvases.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103120"/>
            <a:ext cx="3429000" cy="1078992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2209837"/>
            <a:ext cx="96346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5B6736"/>
                </a:solidFill>
                <a:latin typeface="Aptos"/>
              </a:rPr>
              <a:t>FRAMING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08994"/>
            <a:ext cx="3141324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373C26"/>
                </a:solidFill>
                <a:latin typeface="Aptos"/>
              </a:rPr>
              <a:t>Fit adds padding; Fill scales and crops to cover the canvas.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39"/>
            <a:ext cx="3429000" cy="1078992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627157"/>
            <a:ext cx="1016176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5B6736"/>
                </a:solidFill>
                <a:latin typeface="Aptos"/>
              </a:rPr>
              <a:t>ROTATION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34064"/>
            <a:ext cx="170431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373C26"/>
                </a:solidFill>
                <a:latin typeface="Aptos"/>
              </a:rPr>
              <a:t>0° · 90° · -90° · 180°.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520439"/>
            <a:ext cx="3429000" cy="1078992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3627157"/>
            <a:ext cx="104233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5B6736"/>
                </a:solidFill>
                <a:latin typeface="Aptos"/>
              </a:rPr>
              <a:t>CAPTIONS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1" y="4034064"/>
            <a:ext cx="3062726" cy="5318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373C26"/>
                </a:solidFill>
                <a:latin typeface="Aptos"/>
              </a:rPr>
              <a:t>Single caption text or timestamped caption elements.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520439"/>
            <a:ext cx="3429000" cy="1078992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3627157"/>
            <a:ext cx="72955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5B6736"/>
                </a:solidFill>
                <a:latin typeface="Aptos"/>
              </a:rPr>
              <a:t>AUDIO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034064"/>
            <a:ext cx="3141324" cy="5318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373C26"/>
                </a:solidFill>
                <a:latin typeface="Aptos"/>
              </a:rPr>
              <a:t>Original volume + optional background music + simple ducking.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54680" y="5230368"/>
            <a:ext cx="5897880" cy="640080"/>
          </a:xfrm>
          <a:prstGeom prst="roundRect">
            <a:avLst/>
          </a:prstGeom>
          <a:solidFill>
            <a:srgbClr val="F1E8C7"/>
          </a:solidFill>
          <a:ln w="8890">
            <a:solidFill>
              <a:srgbClr val="F1E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54680" y="5230368"/>
            <a:ext cx="58978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5B6736"/>
                </a:solidFill>
                <a:latin typeface="Georgia"/>
              </a:rPr>
              <a:t>POST /render  →  FFmpeg processing  →  /outputs/clip_xxxxxx.mp4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93192"/>
            <a:ext cx="45720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5B6736"/>
                </a:solidFill>
                <a:latin typeface="Aptos"/>
              </a:rPr>
              <a:t>06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373C26"/>
                </a:solidFill>
                <a:latin typeface="Georgia"/>
              </a:rPr>
              <a:t>Three technical layers, one creator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09151"/>
            <a:ext cx="660514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707150"/>
                </a:solidFill>
                <a:latin typeface="Aptos"/>
              </a:rPr>
              <a:t>Separation keeps AI decisions, UI state and video rendering independently testable.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52760" cy="10972"/>
          </a:xfrm>
          <a:prstGeom prst="rect">
            <a:avLst/>
          </a:prstGeom>
          <a:solidFill>
            <a:srgbClr val="DED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2240280"/>
            <a:ext cx="3337560" cy="2514600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2444682"/>
            <a:ext cx="97392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5B6736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83464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dirty="0">
                <a:solidFill>
                  <a:srgbClr val="373C26"/>
                </a:solidFill>
                <a:latin typeface="Georgia"/>
              </a:rPr>
              <a:t>React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756" y="3518355"/>
            <a:ext cx="2170519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dirty="0">
                <a:solidFill>
                  <a:srgbClr val="707150"/>
                </a:solidFill>
                <a:latin typeface="Aptos"/>
              </a:rPr>
              <a:t>Dashboard · Projects · Assets · Script · Suggestions · Clips · Editor · Preview ·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0204" y="3136614"/>
            <a:ext cx="431529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 dirty="0">
                <a:solidFill>
                  <a:srgbClr val="5B6736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2856" y="2240280"/>
            <a:ext cx="3337560" cy="2514600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64024" y="2444682"/>
            <a:ext cx="117012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5B6736"/>
                </a:solidFill>
                <a:latin typeface="Aptos"/>
              </a:rPr>
              <a:t>BACKEND +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283464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dirty="0" err="1">
                <a:solidFill>
                  <a:srgbClr val="373C26"/>
                </a:solidFill>
                <a:latin typeface="Georgia"/>
              </a:rPr>
              <a:t>FastAPI</a:t>
            </a:r>
            <a:endParaRPr sz="1800" b="1" dirty="0">
              <a:solidFill>
                <a:srgbClr val="373C26"/>
              </a:solidFill>
              <a:latin typeface="Georgi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90384" y="3497106"/>
            <a:ext cx="3082504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sz="1400" b="0" dirty="0">
                <a:solidFill>
                  <a:srgbClr val="707150"/>
                </a:solidFill>
                <a:latin typeface="Aptos"/>
              </a:rPr>
              <a:t>Projects · uploads · scripts · analysis · ranked clips · editable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3252" y="3136614"/>
            <a:ext cx="431529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 dirty="0">
                <a:solidFill>
                  <a:srgbClr val="5B673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75904" y="2240280"/>
            <a:ext cx="3337560" cy="2514600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77072" y="2444682"/>
            <a:ext cx="121873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5B6736"/>
                </a:solidFill>
                <a:latin typeface="Aptos"/>
              </a:rPr>
              <a:t>VIDEO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283464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73C26"/>
                </a:solidFill>
                <a:latin typeface="Georgia"/>
              </a:rPr>
              <a:t>FastAPI + FFmpeg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2724" y="3520191"/>
            <a:ext cx="2734775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sz="1400" b="0" dirty="0">
                <a:solidFill>
                  <a:srgbClr val="707150"/>
                </a:solidFill>
                <a:latin typeface="Aptos"/>
              </a:rPr>
              <a:t>Trim · concatenate · captions · audio · aspect ratio · render · MP4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5358" y="5500003"/>
            <a:ext cx="9076524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dirty="0">
                <a:solidFill>
                  <a:srgbClr val="5B6736"/>
                </a:solidFill>
                <a:latin typeface="Georgia"/>
              </a:rPr>
              <a:t>Creator → Workspace → AI Analysis → Editable Plan → </a:t>
            </a:r>
            <a:r>
              <a:rPr sz="1600" b="1" dirty="0" err="1">
                <a:solidFill>
                  <a:srgbClr val="5B6736"/>
                </a:solidFill>
                <a:latin typeface="Georgia"/>
              </a:rPr>
              <a:t>FFmpeg</a:t>
            </a:r>
            <a:r>
              <a:rPr sz="1600" b="1" dirty="0">
                <a:solidFill>
                  <a:srgbClr val="5B6736"/>
                </a:solidFill>
                <a:latin typeface="Georgia"/>
              </a:rPr>
              <a:t> → Preview →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93192"/>
            <a:ext cx="45720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5B6736"/>
                </a:solidFill>
                <a:latin typeface="Aptos"/>
              </a:rPr>
              <a:t>07 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373C26"/>
                </a:solidFill>
                <a:latin typeface="Georgia"/>
              </a:rPr>
              <a:t>A complete creator workspace, not a single AI button.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09151"/>
            <a:ext cx="662040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707150"/>
                </a:solidFill>
                <a:latin typeface="Aptos"/>
              </a:rPr>
              <a:t>The prototype covers the full user journey from project creation through final export.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52760" cy="10972"/>
          </a:xfrm>
          <a:prstGeom prst="rect">
            <a:avLst/>
          </a:prstGeom>
          <a:solidFill>
            <a:srgbClr val="DED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58959"/>
            <a:ext cx="125143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5B6736"/>
                </a:solidFill>
                <a:latin typeface="Aptos"/>
              </a:rPr>
              <a:t>WORKSPACE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086391"/>
            <a:ext cx="412497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373C26"/>
                </a:solidFill>
                <a:latin typeface="Aptos"/>
              </a:rPr>
              <a:t>Dashboard · Projects · Asset Library · Script 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542032"/>
            <a:ext cx="10378440" cy="10972"/>
          </a:xfrm>
          <a:prstGeom prst="rect">
            <a:avLst/>
          </a:prstGeom>
          <a:solidFill>
            <a:srgbClr val="DED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753904"/>
            <a:ext cx="1419556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5B6736"/>
                </a:solidFill>
                <a:latin typeface="Aptos"/>
              </a:rPr>
              <a:t>AI ASSISTANCE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781335"/>
            <a:ext cx="5268430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73C26"/>
                </a:solidFill>
                <a:latin typeface="Aptos"/>
              </a:rPr>
              <a:t>Suggestions · hook insights · ranked clips · Creator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236976"/>
            <a:ext cx="10378440" cy="10972"/>
          </a:xfrm>
          <a:prstGeom prst="rect">
            <a:avLst/>
          </a:prstGeom>
          <a:solidFill>
            <a:srgbClr val="DED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448848"/>
            <a:ext cx="80092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5B6736"/>
                </a:solidFill>
                <a:latin typeface="Aptos"/>
              </a:rPr>
              <a:t>EDITOR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476279"/>
            <a:ext cx="3990131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73C26"/>
                </a:solidFill>
                <a:latin typeface="Aptos"/>
              </a:rPr>
              <a:t>Clip selection · captions · volume · aspect ratio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31920"/>
            <a:ext cx="10378440" cy="10972"/>
          </a:xfrm>
          <a:prstGeom prst="rect">
            <a:avLst/>
          </a:prstGeom>
          <a:solidFill>
            <a:srgbClr val="DED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143792"/>
            <a:ext cx="943976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5B6736"/>
                </a:solidFill>
                <a:latin typeface="Aptos"/>
              </a:rPr>
              <a:t>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171223"/>
            <a:ext cx="411112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73C26"/>
                </a:solidFill>
                <a:latin typeface="Aptos"/>
              </a:rPr>
              <a:t>Platform-oriented preview before final rendering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626864"/>
            <a:ext cx="10378440" cy="10972"/>
          </a:xfrm>
          <a:prstGeom prst="rect">
            <a:avLst/>
          </a:prstGeom>
          <a:solidFill>
            <a:srgbClr val="DED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838736"/>
            <a:ext cx="838948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5B6736"/>
                </a:solidFill>
                <a:latin typeface="Aptos"/>
              </a:rPr>
              <a:t>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866167"/>
            <a:ext cx="371120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73C26"/>
                </a:solidFill>
                <a:latin typeface="Aptos"/>
              </a:rPr>
              <a:t>Rendered result and final delivery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5715000"/>
            <a:ext cx="6172200" cy="548640"/>
          </a:xfrm>
          <a:prstGeom prst="roundRect">
            <a:avLst/>
          </a:prstGeom>
          <a:solidFill>
            <a:srgbClr val="9CA764"/>
          </a:solidFill>
          <a:ln w="8890">
            <a:solidFill>
              <a:srgbClr val="9CA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90396" y="5820043"/>
            <a:ext cx="482644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dirty="0">
                <a:solidFill>
                  <a:srgbClr val="FFFCEF"/>
                </a:solidFill>
                <a:latin typeface="Aptos"/>
              </a:rPr>
              <a:t>Creator remains in control at every decision point.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93192"/>
            <a:ext cx="45720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5B6736"/>
                </a:solidFill>
                <a:latin typeface="Aptos"/>
              </a:rPr>
              <a:t>08  QA +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373C26"/>
                </a:solidFill>
                <a:latin typeface="Georgia"/>
              </a:rPr>
              <a:t>The product is tested as one end-to-end journey.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09151"/>
            <a:ext cx="610410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707150"/>
                </a:solidFill>
                <a:latin typeface="Aptos"/>
              </a:rPr>
              <a:t>Member 4 validates the handoff between frontend, AI analysis and rendering.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52760" cy="10972"/>
          </a:xfrm>
          <a:prstGeom prst="rect">
            <a:avLst/>
          </a:prstGeom>
          <a:solidFill>
            <a:srgbClr val="DED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1417320" cy="658368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1056134" y="2491627"/>
            <a:ext cx="85953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73C26"/>
                </a:solidFill>
                <a:latin typeface="Aptos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4536" y="2313654"/>
            <a:ext cx="431529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 dirty="0">
                <a:solidFill>
                  <a:srgbClr val="5B673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3472" y="2331720"/>
            <a:ext cx="1417320" cy="658368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2885852" y="2491627"/>
            <a:ext cx="91255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73C26"/>
                </a:solidFill>
                <a:latin typeface="Aptos"/>
              </a:rPr>
              <a:t>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0768" y="2313654"/>
            <a:ext cx="431529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 dirty="0">
                <a:solidFill>
                  <a:srgbClr val="5B6736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3" y="2331720"/>
            <a:ext cx="1417320" cy="658368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4675015" y="2491627"/>
            <a:ext cx="104669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73C26"/>
                </a:solidFill>
                <a:latin typeface="Aptos"/>
              </a:rPr>
              <a:t>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000" y="2313654"/>
            <a:ext cx="431529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 dirty="0">
                <a:solidFill>
                  <a:srgbClr val="5B6736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2331720"/>
            <a:ext cx="1417320" cy="658368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6779521" y="2491627"/>
            <a:ext cx="55015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73C26"/>
                </a:solidFill>
                <a:latin typeface="Aptos"/>
              </a:rPr>
              <a:t>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3231" y="2313654"/>
            <a:ext cx="431529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 dirty="0">
                <a:solidFill>
                  <a:srgbClr val="5B6736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2167" y="2331720"/>
            <a:ext cx="1417320" cy="658368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8482664" y="2491627"/>
            <a:ext cx="85632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73C26"/>
                </a:solidFill>
                <a:latin typeface="Aptos"/>
              </a:rPr>
              <a:t>Render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9464" y="2313654"/>
            <a:ext cx="431528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 dirty="0">
                <a:solidFill>
                  <a:srgbClr val="5B673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399" y="2331720"/>
            <a:ext cx="1417320" cy="658368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10372559" y="2491627"/>
            <a:ext cx="78899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73C26"/>
                </a:solidFill>
                <a:latin typeface="Aptos"/>
              </a:rPr>
              <a:t>Export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520440"/>
            <a:ext cx="4892040" cy="1417320"/>
          </a:xfrm>
          <a:prstGeom prst="roundRect">
            <a:avLst/>
          </a:prstGeom>
          <a:solidFill>
            <a:srgbClr val="F1E8C7"/>
          </a:solidFill>
          <a:ln w="8890">
            <a:solidFill>
              <a:srgbClr val="F1E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1143000" y="3660388"/>
            <a:ext cx="152657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dirty="0">
                <a:solidFill>
                  <a:srgbClr val="5B6736"/>
                </a:solidFill>
                <a:latin typeface="Aptos"/>
              </a:rPr>
              <a:t>QA PRIORITY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015216"/>
            <a:ext cx="2083519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373C26"/>
                </a:solidFill>
                <a:latin typeface="Aptos"/>
              </a:rPr>
              <a:t>P0  Core demo flow
P1  Creator Intelligence
P2  Visual polish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520440"/>
            <a:ext cx="4892040" cy="1417320"/>
          </a:xfrm>
          <a:prstGeom prst="roundRect">
            <a:avLst/>
          </a:prstGeom>
          <a:solidFill>
            <a:srgbClr val="F1E8C7"/>
          </a:solidFill>
          <a:ln w="8890">
            <a:solidFill>
              <a:srgbClr val="F1E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6675120" y="3660388"/>
            <a:ext cx="1765355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dirty="0">
                <a:solidFill>
                  <a:srgbClr val="5B6736"/>
                </a:solidFill>
                <a:latin typeface="Aptos"/>
              </a:rPr>
              <a:t>BACKUP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015216"/>
            <a:ext cx="2970493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73C26"/>
                </a:solidFill>
                <a:latin typeface="Aptos"/>
              </a:rPr>
              <a:t>Pre-rendered MP4
Screenshots
Recorded end-to-end walkthrough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32109" y="5660023"/>
            <a:ext cx="629730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707150"/>
                </a:solidFill>
                <a:latin typeface="Aptos"/>
              </a:rPr>
              <a:t>Demo strategy: prove the workflow first, then explain the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93192"/>
            <a:ext cx="45720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5B6736"/>
                </a:solidFill>
                <a:latin typeface="Aptos"/>
              </a:rPr>
              <a:t>09  TEAM NEXBYTE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373C26"/>
                </a:solidFill>
                <a:latin typeface="Georgia"/>
              </a:rPr>
              <a:t>Four roles. One integrated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09151"/>
            <a:ext cx="723326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707150"/>
                </a:solidFill>
                <a:latin typeface="Aptos"/>
              </a:rPr>
              <a:t>Responsibilities are intentionally separated so each layer can be built and tested in parallel.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52760" cy="10972"/>
          </a:xfrm>
          <a:prstGeom prst="rect">
            <a:avLst/>
          </a:prstGeom>
          <a:solidFill>
            <a:srgbClr val="DED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2103120"/>
            <a:ext cx="4937760" cy="1188720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1069848" y="2209837"/>
            <a:ext cx="104227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5B6736"/>
                </a:solidFill>
                <a:latin typeface="Aptos"/>
              </a:rPr>
              <a:t>MEMBER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168241"/>
            <a:ext cx="16747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373C26"/>
                </a:solidFill>
                <a:latin typeface="Aptos"/>
              </a:rPr>
              <a:t>Backend +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582621"/>
            <a:ext cx="379244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707150"/>
                </a:solidFill>
                <a:latin typeface="Aptos"/>
              </a:rPr>
              <a:t>API contract · project data · scripts · AI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4937760" cy="1188720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6556248" y="2209837"/>
            <a:ext cx="103265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5B6736"/>
                </a:solidFill>
                <a:latin typeface="Aptos"/>
              </a:rPr>
              <a:t>MEMBER</a:t>
            </a:r>
            <a:r>
              <a:rPr lang="en-IN" sz="1050" b="1" dirty="0">
                <a:solidFill>
                  <a:srgbClr val="5B6736"/>
                </a:solidFill>
                <a:latin typeface="Aptos"/>
              </a:rPr>
              <a:t> </a:t>
            </a:r>
            <a:r>
              <a:rPr lang="en-IN" sz="1400" b="1" dirty="0">
                <a:solidFill>
                  <a:srgbClr val="5B6736"/>
                </a:solidFill>
                <a:latin typeface="Aptos"/>
              </a:rPr>
              <a:t>2</a:t>
            </a:r>
            <a:endParaRPr sz="1050" b="1" dirty="0">
              <a:solidFill>
                <a:srgbClr val="5B6736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43800" y="2168241"/>
            <a:ext cx="373922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373C26"/>
                </a:solidFill>
                <a:latin typeface="Aptos"/>
              </a:rPr>
              <a:t>Frontend + Creator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622876"/>
            <a:ext cx="361393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707150"/>
                </a:solidFill>
                <a:latin typeface="Aptos"/>
              </a:rPr>
              <a:t>Dashboard · assets · suggestions · editor · preview · export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611879"/>
            <a:ext cx="4937760" cy="1188720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069848" y="3718596"/>
            <a:ext cx="104227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5B6736"/>
                </a:solidFill>
                <a:latin typeface="Aptos"/>
              </a:rPr>
              <a:t>MEMBER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677000"/>
            <a:ext cx="303903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dirty="0">
                <a:solidFill>
                  <a:srgbClr val="373C26"/>
                </a:solidFill>
                <a:latin typeface="Aptos"/>
              </a:rPr>
              <a:t>Video Processing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73453"/>
            <a:ext cx="362420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 err="1">
                <a:solidFill>
                  <a:srgbClr val="707150"/>
                </a:solidFill>
                <a:latin typeface="Aptos"/>
              </a:rPr>
              <a:t>FFmpeg</a:t>
            </a:r>
            <a:r>
              <a:rPr sz="1400" b="0" dirty="0">
                <a:solidFill>
                  <a:srgbClr val="707150"/>
                </a:solidFill>
                <a:latin typeface="Aptos"/>
              </a:rPr>
              <a:t> · trim · resize · concatenate · captions · audio · rendering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611879"/>
            <a:ext cx="4937760" cy="1188720"/>
          </a:xfrm>
          <a:prstGeom prst="roundRect">
            <a:avLst/>
          </a:prstGeom>
          <a:solidFill>
            <a:srgbClr val="FFFCEF"/>
          </a:solidFill>
          <a:ln w="8890">
            <a:solidFill>
              <a:srgbClr val="DE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6556248" y="3718596"/>
            <a:ext cx="104227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5B6736"/>
                </a:solidFill>
                <a:latin typeface="Aptos"/>
              </a:rPr>
              <a:t>MEMBER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677000"/>
            <a:ext cx="302108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373C26"/>
                </a:solidFill>
                <a:latin typeface="Aptos"/>
              </a:rPr>
              <a:t>Product + Analytics + 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4085491"/>
            <a:ext cx="373922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707150"/>
                </a:solidFill>
                <a:latin typeface="Aptos"/>
              </a:rPr>
              <a:t>Creator Intelligence · QA · demo · architecture · README · pitch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5440680"/>
            <a:ext cx="5715000" cy="594360"/>
          </a:xfrm>
          <a:prstGeom prst="roundRect">
            <a:avLst/>
          </a:prstGeom>
          <a:solidFill>
            <a:srgbClr val="9CA764"/>
          </a:solidFill>
          <a:ln w="8890">
            <a:solidFill>
              <a:srgbClr val="9CA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3620216" y="5583971"/>
            <a:ext cx="496680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dirty="0" err="1">
                <a:solidFill>
                  <a:srgbClr val="FFFCEF"/>
                </a:solidFill>
                <a:latin typeface="Aptos"/>
              </a:rPr>
              <a:t>NexByte</a:t>
            </a:r>
            <a:r>
              <a:rPr sz="1400" b="1" dirty="0">
                <a:solidFill>
                  <a:srgbClr val="FFFCEF"/>
                </a:solidFill>
                <a:latin typeface="Aptos"/>
              </a:rPr>
              <a:t> · Build independently. Integrate into one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0" y="594360"/>
            <a:ext cx="4526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5B6736"/>
                </a:solidFill>
                <a:latin typeface="Aptos"/>
              </a:rPr>
              <a:t>NEXBYTE · CREATORAI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56724" y="1325880"/>
            <a:ext cx="8275320" cy="1920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373C26"/>
                </a:solidFill>
                <a:latin typeface="Georgia"/>
              </a:rPr>
              <a:t>One recording.
Multiple platforms.
Minutes instead of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5046" y="3632954"/>
            <a:ext cx="901714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0">
                <a:solidFill>
                  <a:srgbClr val="707150"/>
                </a:solidFill>
                <a:latin typeface="Aptos"/>
              </a:rPr>
              <a:t>AI finds the opportunities. Creators make the decisions. FFmpeg produces the final video.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4434840"/>
            <a:ext cx="6446520" cy="685800"/>
          </a:xfrm>
          <a:prstGeom prst="roundRect">
            <a:avLst/>
          </a:prstGeom>
          <a:solidFill>
            <a:srgbClr val="F1E8C7"/>
          </a:solidFill>
          <a:ln w="8890">
            <a:solidFill>
              <a:srgbClr val="F1E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80360" y="4434840"/>
            <a:ext cx="64465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5B6736"/>
                </a:solidFill>
                <a:latin typeface="Georgia"/>
              </a:rPr>
              <a:t>Idea → Script → Analyze → Edit → Render → Publish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580644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5B6736"/>
                </a:solidFill>
                <a:latin typeface="Aptos"/>
              </a:rPr>
              <a:t>Team NexByte  ·  CreatorAI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893</Words>
  <Application>Microsoft Office PowerPoint</Application>
  <PresentationFormat>Widescreen</PresentationFormat>
  <Paragraphs>165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Aarya Jadhav</dc:creator>
  <cp:keywords/>
  <dc:description>generated using python-pptx</dc:description>
  <cp:lastModifiedBy>Aarya Jadhav</cp:lastModifiedBy>
  <cp:revision>16</cp:revision>
  <dcterms:created xsi:type="dcterms:W3CDTF">2013-01-27T09:14:16Z</dcterms:created>
  <dcterms:modified xsi:type="dcterms:W3CDTF">2026-10-04T08:40:33Z</dcterms:modified>
  <cp:category/>
</cp:coreProperties>
</file>